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5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3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6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3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1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8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605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1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598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94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18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8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83B8E-209B-4F25-A87F-B24881F1FBF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5F3002-5543-497F-B5BC-B2668E617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8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/>
              <a:t>دروغ سفید از </a:t>
            </a:r>
            <a:r>
              <a:rPr lang="fa-IR" dirty="0" smtClean="0"/>
              <a:t>منظر</a:t>
            </a:r>
            <a:r>
              <a:rPr lang="fa-IR" dirty="0"/>
              <a:t> </a:t>
            </a:r>
            <a:r>
              <a:rPr lang="fa-IR" dirty="0" smtClean="0"/>
              <a:t>مکاتب</a:t>
            </a:r>
            <a:r>
              <a:rPr lang="fa-IR" dirty="0" smtClean="0"/>
              <a:t> </a:t>
            </a:r>
            <a:r>
              <a:rPr lang="fa-IR" dirty="0" smtClean="0"/>
              <a:t>اخلاقی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 smtClean="0"/>
              <a:t>ارائه دهنده: محمدپارسا دینی</a:t>
            </a:r>
          </a:p>
          <a:p>
            <a:r>
              <a:rPr lang="fa-IR" dirty="0" smtClean="0"/>
              <a:t>استاد درس: دکتر آزادگان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5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Moral Corner Cases</a:t>
            </a:r>
            <a:endParaRPr lang="en-US" dirty="0"/>
          </a:p>
        </p:txBody>
      </p:sp>
      <p:pic>
        <p:nvPicPr>
          <p:cNvPr id="1026" name="Picture 2" descr="How To Give Clothes As A Gift *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13" y="2571473"/>
            <a:ext cx="3543469" cy="248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adow Of Man In Door With Knife Stock Photo - Download Image Now - Men,  Shadow, Threats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043" y="1467238"/>
            <a:ext cx="2380294" cy="358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41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Kant’s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عقلانیت </a:t>
            </a:r>
            <a:r>
              <a:rPr lang="en-US" dirty="0" smtClean="0"/>
              <a:t>(universality)</a:t>
            </a:r>
            <a:r>
              <a:rPr lang="fa-IR" dirty="0" smtClean="0"/>
              <a:t>: نتیجه اعمال ما جهان شمول و مایه تناقض و تغارض نباشد.</a:t>
            </a:r>
          </a:p>
          <a:p>
            <a:pPr algn="r" rtl="1"/>
            <a:endParaRPr lang="fa-IR" dirty="0"/>
          </a:p>
          <a:p>
            <a:pPr algn="r" rtl="1"/>
            <a:endParaRPr lang="fa-IR" dirty="0" smtClean="0"/>
          </a:p>
          <a:p>
            <a:pPr algn="r" rtl="1"/>
            <a:r>
              <a:rPr lang="fa-IR" dirty="0" smtClean="0"/>
              <a:t>انسانیت(</a:t>
            </a:r>
            <a:r>
              <a:rPr lang="en-US" dirty="0" smtClean="0"/>
              <a:t>no mere means</a:t>
            </a:r>
            <a:r>
              <a:rPr lang="fa-IR" dirty="0" smtClean="0"/>
              <a:t>): انسان ها ابزار تلقی نگردند</a:t>
            </a:r>
            <a:r>
              <a:rPr lang="en-US" dirty="0" smtClean="0"/>
              <a:t>.</a:t>
            </a:r>
            <a:endParaRPr lang="fa-IR" dirty="0" smtClean="0"/>
          </a:p>
          <a:p>
            <a:pPr algn="r" rtl="1"/>
            <a:endParaRPr lang="fa-IR" dirty="0"/>
          </a:p>
          <a:p>
            <a:pPr algn="r" rtl="1"/>
            <a:endParaRPr lang="fa-IR" dirty="0" smtClean="0"/>
          </a:p>
          <a:p>
            <a:pPr algn="r" rtl="1"/>
            <a:r>
              <a:rPr lang="fa-IR" dirty="0" smtClean="0"/>
              <a:t>آزادی (</a:t>
            </a:r>
            <a:r>
              <a:rPr lang="en-US" dirty="0" smtClean="0"/>
              <a:t>Autonomy</a:t>
            </a:r>
            <a:r>
              <a:rPr lang="fa-IR" dirty="0" smtClean="0"/>
              <a:t>): آزادی بر مبنای اراده نیک</a:t>
            </a:r>
            <a:endParaRPr lang="en-US" dirty="0" smtClean="0"/>
          </a:p>
          <a:p>
            <a:pPr algn="r" rtl="1"/>
            <a:endParaRPr lang="en-US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9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94454" cy="1320800"/>
          </a:xfrm>
        </p:spPr>
        <p:txBody>
          <a:bodyPr/>
          <a:lstStyle/>
          <a:p>
            <a:r>
              <a:rPr lang="en-US" dirty="0" smtClean="0"/>
              <a:t>Comparing Kantian &amp; Aristotelian Schools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975668" y="2160589"/>
            <a:ext cx="6879" cy="436694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8376" y="2341984"/>
            <a:ext cx="35549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deontological, rights-based, and </a:t>
            </a:r>
            <a:r>
              <a:rPr lang="en-US" b="1" dirty="0" smtClean="0"/>
              <a:t>individualist: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(Rawls, Kant)</a:t>
            </a:r>
          </a:p>
          <a:p>
            <a:endParaRPr lang="en-US" dirty="0"/>
          </a:p>
          <a:p>
            <a:r>
              <a:rPr lang="en-US" dirty="0" smtClean="0"/>
              <a:t>Universality</a:t>
            </a:r>
          </a:p>
          <a:p>
            <a:r>
              <a:rPr lang="en-US" dirty="0" smtClean="0"/>
              <a:t>Autonomy (self = Agent)</a:t>
            </a:r>
            <a:endParaRPr lang="en-US" dirty="0"/>
          </a:p>
          <a:p>
            <a:r>
              <a:rPr lang="en-US" dirty="0" smtClean="0"/>
              <a:t>End in him/herself </a:t>
            </a:r>
          </a:p>
          <a:p>
            <a:endParaRPr lang="en-US" dirty="0"/>
          </a:p>
          <a:p>
            <a:r>
              <a:rPr lang="en-US" dirty="0" smtClean="0"/>
              <a:t>Free choice based on good will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230047" y="2341983"/>
            <a:ext cx="450178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teleological, virtue-based, and communal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(Aristotle)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Ultimate End: </a:t>
            </a:r>
            <a:r>
              <a:rPr lang="en-US" sz="1400" dirty="0"/>
              <a:t>The purpose of human life is not just to be treated as an end, but to </a:t>
            </a:r>
            <a:r>
              <a:rPr lang="en-US" sz="1400" i="1" dirty="0"/>
              <a:t>achieve</a:t>
            </a:r>
            <a:r>
              <a:rPr lang="en-US" sz="1400" dirty="0"/>
              <a:t> a flourishing </a:t>
            </a:r>
            <a:r>
              <a:rPr lang="en-US" sz="1400" dirty="0" smtClean="0"/>
              <a:t>life. This </a:t>
            </a:r>
            <a:r>
              <a:rPr lang="en-US" sz="1400" dirty="0"/>
              <a:t>is the goal (</a:t>
            </a:r>
            <a:r>
              <a:rPr lang="en-US" sz="1400" i="1" dirty="0"/>
              <a:t>telos</a:t>
            </a:r>
            <a:r>
              <a:rPr lang="en-US" sz="1400" dirty="0"/>
              <a:t>) that gives all our actions meaning.</a:t>
            </a:r>
            <a:endParaRPr lang="en-US" sz="1400" dirty="0"/>
          </a:p>
          <a:p>
            <a:endParaRPr lang="en-US" dirty="0" smtClean="0"/>
          </a:p>
          <a:p>
            <a:r>
              <a:rPr lang="en-US" dirty="0"/>
              <a:t>Virtue (Excellence of Character</a:t>
            </a:r>
            <a:r>
              <a:rPr lang="en-US" dirty="0" smtClean="0"/>
              <a:t>):</a:t>
            </a:r>
            <a:endParaRPr lang="en-US" dirty="0"/>
          </a:p>
          <a:p>
            <a:r>
              <a:rPr lang="en-US" sz="1400" dirty="0"/>
              <a:t>Right action </a:t>
            </a:r>
            <a:r>
              <a:rPr lang="en-US" sz="1400" dirty="0" smtClean="0"/>
              <a:t>springs from a good </a:t>
            </a:r>
            <a:r>
              <a:rPr lang="en-US" sz="1400" dirty="0"/>
              <a:t>will following duty, but </a:t>
            </a:r>
            <a:r>
              <a:rPr lang="en-US" sz="1400" dirty="0" smtClean="0"/>
              <a:t>and a</a:t>
            </a:r>
            <a:r>
              <a:rPr lang="en-US" sz="1400" dirty="0"/>
              <a:t> stable character (</a:t>
            </a:r>
            <a:r>
              <a:rPr lang="en-US" sz="1400" dirty="0" err="1"/>
              <a:t>hexis</a:t>
            </a:r>
            <a:r>
              <a:rPr lang="en-US" sz="1400" dirty="0"/>
              <a:t>) trained to feel and act excellently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43404" y="6158204"/>
            <a:ext cx="190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 smtClean="0"/>
              <a:t>مطلق گرا و لیبرال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52727" y="6158204"/>
            <a:ext cx="209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 smtClean="0"/>
              <a:t>فصیلت محور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57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Lie in Kantian School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کانت می گوید: دروغ گفتن حتی برای نجات جان کسی اصل </a:t>
            </a:r>
            <a:r>
              <a:rPr lang="en-US" dirty="0" smtClean="0"/>
              <a:t>universality</a:t>
            </a:r>
            <a:r>
              <a:rPr lang="fa-IR" dirty="0" smtClean="0"/>
              <a:t> را نقض می‌کند، چون اگر دروغ گفتن مجاز شود جامعه دچار بی اعتمادی می‌شود. حقیقت گویی وظیفه ا ی مطلق است مستقل از پیامدها(</a:t>
            </a:r>
            <a:r>
              <a:rPr lang="en-US" dirty="0"/>
              <a:t>Consequentialists </a:t>
            </a:r>
            <a:r>
              <a:rPr lang="fa-IR" dirty="0" smtClean="0"/>
              <a:t>)</a:t>
            </a:r>
            <a:endParaRPr lang="en-US" dirty="0" smtClean="0"/>
          </a:p>
          <a:p>
            <a:pPr algn="r" rtl="1"/>
            <a:endParaRPr lang="en-US" dirty="0"/>
          </a:p>
          <a:p>
            <a:pPr algn="r" rtl="1"/>
            <a:r>
              <a:rPr lang="fa-IR" dirty="0" smtClean="0"/>
              <a:t>همچنین کانت انسان را به عنوان موجودی عقلانی(</a:t>
            </a:r>
            <a:r>
              <a:rPr lang="en-US" dirty="0" smtClean="0"/>
              <a:t>pure reason</a:t>
            </a:r>
            <a:r>
              <a:rPr lang="fa-IR" dirty="0" smtClean="0"/>
              <a:t>) و خودمختار می‌بیند. دروغ گویی شنونده را به یک ابزار برای هدف ما بدل می‌کند. زیرا سبب فریب افراد می‌شود و از تصمیم گیری آکاهانه محروم می‌سازد.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5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Lie in Aristotelian School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ارسطو قوانین را بر پایه فضایل می‌بیند و نر بر پایه قوانین مطلق. </a:t>
            </a:r>
          </a:p>
          <a:p>
            <a:pPr algn="r" rtl="1"/>
            <a:endParaRPr lang="en-US" dirty="0" smtClean="0"/>
          </a:p>
          <a:p>
            <a:pPr algn="r" rtl="1"/>
            <a:endParaRPr lang="en-US" dirty="0"/>
          </a:p>
          <a:p>
            <a:pPr algn="r" rtl="1"/>
            <a:r>
              <a:rPr lang="fa-IR" dirty="0" smtClean="0"/>
              <a:t>سوال چه کسی باشم؟ در مقابل چه کاری باید انجام بدهم(وظیفه گرایی)؟</a:t>
            </a:r>
          </a:p>
          <a:p>
            <a:pPr algn="r" rtl="1"/>
            <a:endParaRPr lang="en-US" dirty="0" smtClean="0"/>
          </a:p>
          <a:p>
            <a:pPr algn="r" rtl="1"/>
            <a:endParaRPr lang="fa-IR" dirty="0"/>
          </a:p>
          <a:p>
            <a:pPr algn="r" rtl="1"/>
            <a:r>
              <a:rPr lang="fa-IR" dirty="0" smtClean="0"/>
              <a:t>فضیلت در حد وسط است، راست‌گویی بیش از حد می‌تواند بی‌رحمانه باشد و دروغ بیش از حد فریبکارانه!</a:t>
            </a:r>
          </a:p>
          <a:p>
            <a:pPr algn="r" rtl="1"/>
            <a:endParaRPr lang="en-US" dirty="0"/>
          </a:p>
          <a:p>
            <a:pPr algn="r" rtl="1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86796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fa-IR" dirty="0" smtClean="0"/>
              <a:t>کانت و رالز انسان را به عنوان اتم های مجرد می‌بینند، در حالی که ما در روابط و نقش های فردی و اجتماعی قرار داریم. </a:t>
            </a:r>
          </a:p>
          <a:p>
            <a:pPr algn="r" rtl="1"/>
            <a:endParaRPr lang="fa-IR" dirty="0" smtClean="0"/>
          </a:p>
          <a:p>
            <a:pPr algn="r" rtl="1"/>
            <a:r>
              <a:rPr lang="fa-IR" dirty="0" smtClean="0"/>
              <a:t>رویکرد کانتی-رالزی بر حقیقت مطلق تاکید داردو آن را پایه عدالت می دانند. اما رویکرد ارسطو و سندل(</a:t>
            </a:r>
            <a:r>
              <a:rPr lang="en-US" dirty="0" smtClean="0"/>
              <a:t>Communitarian</a:t>
            </a:r>
            <a:r>
              <a:rPr lang="fa-IR" dirty="0" smtClean="0"/>
              <a:t>) فضیلت محور است.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 smtClean="0"/>
              <a:t>نظر شخصی: حقیقت گویی مطلق سنگ بنای حاملع عادلانه است و بدون آن ا</a:t>
            </a:r>
            <a:r>
              <a:rPr lang="fa-IR" dirty="0"/>
              <a:t>ع</a:t>
            </a:r>
            <a:r>
              <a:rPr lang="fa-IR" dirty="0" smtClean="0"/>
              <a:t>تماد فرومی‌پاشدو اما این کافی نیست و برای داششتن زندگی بهتر به ملاتی از فضایل دیگر مانند مهربانی، وفاداری و حکمت عملی(</a:t>
            </a:r>
            <a:r>
              <a:rPr lang="en-US" dirty="0" err="1" smtClean="0"/>
              <a:t>phronesis</a:t>
            </a:r>
            <a:r>
              <a:rPr lang="fa-IR" dirty="0" smtClean="0"/>
              <a:t>)</a:t>
            </a:r>
            <a:r>
              <a:rPr lang="en-US" dirty="0" smtClean="0"/>
              <a:t> </a:t>
            </a:r>
            <a:r>
              <a:rPr lang="fa-IR" dirty="0" smtClean="0"/>
              <a:t>نیازمندیم. </a:t>
            </a:r>
          </a:p>
          <a:p>
            <a:pPr algn="r" rtl="1"/>
            <a:r>
              <a:rPr lang="fa-IR" dirty="0" smtClean="0"/>
              <a:t>دروغ مصلحتی اگر از روی این فضایل و در بافت روابط سر بزند، نه تنها گناه بلکه نشانه پیچیدگی اخلاقی است. شاید اخلاقی ترین عمل همواره راست گویی نباشد، بلکه عمل به مسئولیت ما باشد. </a:t>
            </a:r>
            <a:endParaRPr lang="fa-IR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4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</TotalTime>
  <Words>357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Tahoma</vt:lpstr>
      <vt:lpstr>Trebuchet MS</vt:lpstr>
      <vt:lpstr>Wingdings 3</vt:lpstr>
      <vt:lpstr>Facet</vt:lpstr>
      <vt:lpstr>دروغ سفید از منظر مکاتب اخلاقی</vt:lpstr>
      <vt:lpstr>Moral Corner Cases</vt:lpstr>
      <vt:lpstr>Kant’s Principles</vt:lpstr>
      <vt:lpstr>Comparing Kantian &amp; Aristotelian Schools</vt:lpstr>
      <vt:lpstr>White Lie in Kantian School</vt:lpstr>
      <vt:lpstr>White Lie in Aristotelian School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دروغ سفید از منظر اخلاقی</dc:title>
  <dc:creator>USER</dc:creator>
  <cp:lastModifiedBy>USER</cp:lastModifiedBy>
  <cp:revision>11</cp:revision>
  <dcterms:created xsi:type="dcterms:W3CDTF">2025-12-15T10:25:19Z</dcterms:created>
  <dcterms:modified xsi:type="dcterms:W3CDTF">2025-12-15T12:32:56Z</dcterms:modified>
</cp:coreProperties>
</file>